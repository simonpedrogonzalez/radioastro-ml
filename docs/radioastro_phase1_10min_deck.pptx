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7ff20611be49d0" /><Relationship Type="http://schemas.openxmlformats.org/officeDocument/2006/relationships/extended-properties" Target="/docProps/app.xml" Id="Racdcca7284d64177" /><Relationship Type="http://schemas.openxmlformats.org/officeDocument/2006/relationships/officeDocument" Target="/ppt/presentation.xml" Id="R5da2d9593af049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ee908c19404e9f"/>
  </p:sldMasterIdLst>
  <p:notesMasterIdLst>
    <p:notesMasterId xmlns:r="http://schemas.openxmlformats.org/officeDocument/2006/relationships" r:id="R8154b5d60f514bb4"/>
  </p:notesMasterIdLst>
  <p:sldIdLst>
    <p:sldId xmlns:r="http://schemas.openxmlformats.org/officeDocument/2006/relationships" id="256" r:id="R6da85cd639254992"/>
    <p:sldId xmlns:r="http://schemas.openxmlformats.org/officeDocument/2006/relationships" id="257" r:id="R2e39a645bdd14d43"/>
    <p:sldId xmlns:r="http://schemas.openxmlformats.org/officeDocument/2006/relationships" id="258" r:id="R85e7caf79d624135"/>
    <p:sldId xmlns:r="http://schemas.openxmlformats.org/officeDocument/2006/relationships" id="259" r:id="Ra34c2910f2f24f60"/>
    <p:sldId xmlns:r="http://schemas.openxmlformats.org/officeDocument/2006/relationships" id="260" r:id="R9e190bd0fbf2483a"/>
    <p:sldId xmlns:r="http://schemas.openxmlformats.org/officeDocument/2006/relationships" id="261" r:id="R4f18c75ad34e4d8d"/>
    <p:sldId xmlns:r="http://schemas.openxmlformats.org/officeDocument/2006/relationships" id="262" r:id="R8ea57e6cccee4c70"/>
    <p:sldId xmlns:r="http://schemas.openxmlformats.org/officeDocument/2006/relationships" id="263" r:id="R84569ab8e13a481a"/>
    <p:sldId xmlns:r="http://schemas.openxmlformats.org/officeDocument/2006/relationships" id="264" r:id="Rf0b36fd9ebea44fb"/>
    <p:sldId xmlns:r="http://schemas.openxmlformats.org/officeDocument/2006/relationships" id="265" r:id="R6579e4e2f67541e2"/>
    <p:sldId xmlns:r="http://schemas.openxmlformats.org/officeDocument/2006/relationships" id="266" r:id="R9fc24a3dfa464d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e908c19404e9f" /><Relationship Type="http://schemas.openxmlformats.org/officeDocument/2006/relationships/theme" Target="/ppt/theme/theme1.xml" Id="R837abb35c7df4172" /><Relationship Type="http://schemas.openxmlformats.org/officeDocument/2006/relationships/notesMaster" Target="/ppt/notesMasters/notesMaster1.xml" Id="R8154b5d60f514bb4" /><Relationship Type="http://schemas.openxmlformats.org/officeDocument/2006/relationships/presProps" Target="/ppt/presProps.xml" Id="Rf8fa3564de6a4081" /><Relationship Type="http://schemas.openxmlformats.org/officeDocument/2006/relationships/viewProps" Target="/ppt/viewProps.xml" Id="Rdb3743ae73bf4f40" /><Relationship Type="http://schemas.openxmlformats.org/officeDocument/2006/relationships/tableStyles" Target="/ppt/tableStyles.xml" Id="Rad6a4bef81b14bf8" /><Relationship Type="http://schemas.openxmlformats.org/officeDocument/2006/relationships/slide" Target="/ppt/slides/slide1.xml" Id="R6da85cd639254992" /><Relationship Type="http://schemas.openxmlformats.org/officeDocument/2006/relationships/slide" Target="/ppt/slides/slide2.xml" Id="R2e39a645bdd14d43" /><Relationship Type="http://schemas.openxmlformats.org/officeDocument/2006/relationships/slide" Target="/ppt/slides/slide3.xml" Id="R85e7caf79d624135" /><Relationship Type="http://schemas.openxmlformats.org/officeDocument/2006/relationships/slide" Target="/ppt/slides/slide4.xml" Id="Ra34c2910f2f24f60" /><Relationship Type="http://schemas.openxmlformats.org/officeDocument/2006/relationships/slide" Target="/ppt/slides/slide5.xml" Id="R9e190bd0fbf2483a" /><Relationship Type="http://schemas.openxmlformats.org/officeDocument/2006/relationships/slide" Target="/ppt/slides/slide6.xml" Id="R4f18c75ad34e4d8d" /><Relationship Type="http://schemas.openxmlformats.org/officeDocument/2006/relationships/slide" Target="/ppt/slides/slide7.xml" Id="R8ea57e6cccee4c70" /><Relationship Type="http://schemas.openxmlformats.org/officeDocument/2006/relationships/slide" Target="/ppt/slides/slide8.xml" Id="R84569ab8e13a481a" /><Relationship Type="http://schemas.openxmlformats.org/officeDocument/2006/relationships/slide" Target="/ppt/slides/slide9.xml" Id="Rf0b36fd9ebea44fb" /><Relationship Type="http://schemas.openxmlformats.org/officeDocument/2006/relationships/slide" Target="/ppt/slides/slide10.xml" Id="R6579e4e2f67541e2" /><Relationship Type="http://schemas.openxmlformats.org/officeDocument/2006/relationships/slide" Target="/ppt/slides/slide11.xml" Id="R9fc24a3dfa464d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363030abb2941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9b53deb2f24c6b" /><Relationship Type="http://schemas.openxmlformats.org/officeDocument/2006/relationships/notesMaster" Target="/ppt/notesMasters/notesMaster1.xml" Id="Rfc6ea7d9428d44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829454a35f40cc" /><Relationship Type="http://schemas.openxmlformats.org/officeDocument/2006/relationships/notesMaster" Target="/ppt/notesMasters/notesMaster1.xml" Id="R36a8d1bd91b344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5e7ce31e6d4d90" /><Relationship Type="http://schemas.openxmlformats.org/officeDocument/2006/relationships/notesMaster" Target="/ppt/notesMasters/notesMaster1.xml" Id="Rde0f261c08964d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183e3fe74248e7" /><Relationship Type="http://schemas.openxmlformats.org/officeDocument/2006/relationships/notesMaster" Target="/ppt/notesMasters/notesMaster1.xml" Id="Rcf76d428eca244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6704d0690a478c" /><Relationship Type="http://schemas.openxmlformats.org/officeDocument/2006/relationships/notesMaster" Target="/ppt/notesMasters/notesMaster1.xml" Id="Rbc3335848d354a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af0f78921343d7" /><Relationship Type="http://schemas.openxmlformats.org/officeDocument/2006/relationships/notesMaster" Target="/ppt/notesMasters/notesMaster1.xml" Id="Rdf7826d05e6447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041f4d7fd4ad1" /><Relationship Type="http://schemas.openxmlformats.org/officeDocument/2006/relationships/notesMaster" Target="/ppt/notesMasters/notesMaster1.xml" Id="R2844179875c74a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cf7e324ec04135" /><Relationship Type="http://schemas.openxmlformats.org/officeDocument/2006/relationships/notesMaster" Target="/ppt/notesMasters/notesMaster1.xml" Id="Rcd1a51a1384347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3326a290504518" /><Relationship Type="http://schemas.openxmlformats.org/officeDocument/2006/relationships/notesMaster" Target="/ppt/notesMasters/notesMaster1.xml" Id="Rdda253dd3c634b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240fdd80eb4b3c" /><Relationship Type="http://schemas.openxmlformats.org/officeDocument/2006/relationships/notesMaster" Target="/ppt/notesMasters/notesMaster1.xml" Id="R9082fe85367947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44c12b9e444318" /><Relationship Type="http://schemas.openxmlformats.org/officeDocument/2006/relationships/notesMaster" Target="/ppt/notesMasters/notesMaster1.xml" Id="Rd180c5e48fb64d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5dea66d1247b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2d5d72738ac48f4" /><Relationship Type="http://schemas.openxmlformats.org/officeDocument/2006/relationships/slideLayout" Target="/ppt/slideLayouts/slideLayout2.xml" Id="R6ef4f825e27241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f4f825e27241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b73ba394614126" /><Relationship Type="http://schemas.openxmlformats.org/officeDocument/2006/relationships/image" Target="/ppt/media/image.png" Id="Rc1defa74dcc2452e" /><Relationship Type="http://schemas.openxmlformats.org/officeDocument/2006/relationships/notesSlide" Target="/ppt/notesSlides/notesSlide1.xml" Id="Rf726e6d8cc2447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2e09e9deba4658" /><Relationship Type="http://schemas.openxmlformats.org/officeDocument/2006/relationships/image" Target="/ppt/media/image2.png" Id="Rd5df00f619c14c37" /><Relationship Type="http://schemas.openxmlformats.org/officeDocument/2006/relationships/image" Target="/ppt/media/image3.png" Id="Rb621c2b33cd44eff" /><Relationship Type="http://schemas.openxmlformats.org/officeDocument/2006/relationships/image" Target="/ppt/media/image4.png" Id="R66a5f7ab56114ad1" /><Relationship Type="http://schemas.openxmlformats.org/officeDocument/2006/relationships/notesSlide" Target="/ppt/notesSlides/notesSlide2.xml" Id="R5700a6513dda43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126c67abd8410b" /><Relationship Type="http://schemas.openxmlformats.org/officeDocument/2006/relationships/notesSlide" Target="/ppt/notesSlides/notesSlide3.xml" Id="R29de59f3741840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9616b05dd64ebb" /><Relationship Type="http://schemas.openxmlformats.org/officeDocument/2006/relationships/notesSlide" Target="/ppt/notesSlides/notesSlide4.xml" Id="R205ed03970a34f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c263dbf43c4574" /><Relationship Type="http://schemas.openxmlformats.org/officeDocument/2006/relationships/image" Target="/ppt/media/image5.png" Id="Rde253ac82a264415" /><Relationship Type="http://schemas.openxmlformats.org/officeDocument/2006/relationships/notesSlide" Target="/ppt/notesSlides/notesSlide5.xml" Id="Rcc5e84bc5eaf4a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d8ec50bf934746" /><Relationship Type="http://schemas.openxmlformats.org/officeDocument/2006/relationships/image" Target="/ppt/media/image6.png" Id="Re9fe006736be4cb3" /><Relationship Type="http://schemas.openxmlformats.org/officeDocument/2006/relationships/image" Target="/ppt/media/image7.png" Id="R825f14dcc5854e81" /><Relationship Type="http://schemas.openxmlformats.org/officeDocument/2006/relationships/image" Target="/ppt/media/image8.png" Id="R00e0e5ccd28248e1" /><Relationship Type="http://schemas.openxmlformats.org/officeDocument/2006/relationships/notesSlide" Target="/ppt/notesSlides/notesSlide6.xml" Id="R96def2a4346146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0c85c80e4a4dce" /><Relationship Type="http://schemas.openxmlformats.org/officeDocument/2006/relationships/image" Target="/ppt/media/image9.png" Id="R5ebc95df64364382" /><Relationship Type="http://schemas.openxmlformats.org/officeDocument/2006/relationships/image" Target="/ppt/media/image10.png" Id="Rcc725f12edd34364" /><Relationship Type="http://schemas.openxmlformats.org/officeDocument/2006/relationships/image" Target="/ppt/media/image11.png" Id="R0d15ca6409fa4f62" /><Relationship Type="http://schemas.openxmlformats.org/officeDocument/2006/relationships/notesSlide" Target="/ppt/notesSlides/notesSlide7.xml" Id="R721ec5e2066a48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7c299675814211" /><Relationship Type="http://schemas.openxmlformats.org/officeDocument/2006/relationships/image" Target="/ppt/media/image12.png" Id="R9f99288d0aac4a87" /><Relationship Type="http://schemas.openxmlformats.org/officeDocument/2006/relationships/image" Target="/ppt/media/image13.png" Id="Rb1aabd96c42b476e" /><Relationship Type="http://schemas.openxmlformats.org/officeDocument/2006/relationships/image" Target="/ppt/media/image14.png" Id="R2030c88141f14048" /><Relationship Type="http://schemas.openxmlformats.org/officeDocument/2006/relationships/image" Target="/ppt/media/image15.png" Id="R54e211e665484870" /><Relationship Type="http://schemas.openxmlformats.org/officeDocument/2006/relationships/notesSlide" Target="/ppt/notesSlides/notesSlide8.xml" Id="R7075ca8594fd43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d33be388448ec" /><Relationship Type="http://schemas.openxmlformats.org/officeDocument/2006/relationships/image" Target="/ppt/media/image16.png" Id="Re8269b683edf477f" /><Relationship Type="http://schemas.openxmlformats.org/officeDocument/2006/relationships/notesSlide" Target="/ppt/notesSlides/notesSlide9.xml" Id="R8a511d3428fb41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17795f393e407e" /><Relationship Type="http://schemas.openxmlformats.org/officeDocument/2006/relationships/notesSlide" Target="/ppt/notesSlides/notesSlide10.xml" Id="R68afdeec041948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e8e205209c4a42" /><Relationship Type="http://schemas.openxmlformats.org/officeDocument/2006/relationships/notesSlide" Target="/ppt/notesSlides/notesSlide11.xml" Id="R9c05c911ef3849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096458-6489-417D-AE88-C98C2EF8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0"/>
            <a:ext cx="4705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E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03450-0FF8-4713-AE10-B0239BE4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2E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7A8E4-C429-4CC1-8B6D-6AC7F437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COSMICAI / RADIOASTRO-ML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CA7B0-90F8-49C9-9410-AE862620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609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Accelerating Radio Interferometry Error Detection with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A3FCD-8F11-492F-851E-E7ABB0F2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90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Main claim: this is still a Phase I infrastructure effort. The current win is a repeatable path from real VLA calibrator observations to controlled faults, standardized imaging, and future labels.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05BA6-2E20-4537-A2F2-6EAE58B4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D4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A8AD9-4691-435F-8804-187D5375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43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32434"/>
                </a:solidFill>
                <a:latin typeface="Aptos Mono"/>
                <a:ea typeface="Aptos Mono"/>
                <a:cs typeface="Aptos Mono"/>
              </a:rPr>
              <a:t>real public VLA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6CAD0-0D6A-4034-B42E-600BFAB6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52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D4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75B26-8F04-4200-812C-C6B05897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2905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43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32434"/>
                </a:solidFill>
                <a:latin typeface="Aptos Mono"/>
                <a:ea typeface="Aptos Mono"/>
                <a:cs typeface="Aptos Mono"/>
              </a:rPr>
              <a:t>controlled corruptions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C72B6-4D82-47DE-A5D2-DE89B4A7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D4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6DA1D-4E60-4573-B455-A27C03B8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43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32434"/>
                </a:solidFill>
                <a:latin typeface="Aptos Mono"/>
                <a:ea typeface="Aptos Mono"/>
                <a:cs typeface="Aptos Mono"/>
              </a:rPr>
              <a:t>diagnostics before 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078E1-F027-4172-9C2F-ADAAC08C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905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0465B-1084-4579-9436-798E3D3C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560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E7E5F-0DA0-4CCC-820D-B77CCB6A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5600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The project should not claim an ML result yet. It should claim that the data, corruption, imaging, and QA machinery is finally becoming trustworthy enough to support 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6D74A-7748-4608-9052-9B0AD1B2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76300"/>
            <a:ext cx="40195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5E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efa74dcc2452e"/>
          <a:stretch xmlns:a="http://schemas.openxmlformats.org/drawingml/2006/main"/>
        </p:blipFill>
        <p:spPr>
          <a:xfrm xmlns:a="http://schemas.openxmlformats.org/drawingml/2006/main">
            <a:off x="9725311" y="971550"/>
            <a:ext cx="228028" cy="43434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A30CA-1806-41B3-9FE7-DE373AA7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43550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C6D1D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6D1DA"/>
                </a:solidFill>
                <a:latin typeface="Aptos"/>
                <a:ea typeface="Aptos"/>
                <a:cs typeface="Aptos"/>
              </a:rPr>
              <a:t>Extracted-image contact sheet from the current sample-building workflow.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120BE-C107-4A02-8D1F-094F70C7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981700"/>
            <a:ext cx="4019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3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3E7EB"/>
                </a:solidFill>
                <a:latin typeface="Aptos"/>
                <a:ea typeface="Aptos"/>
                <a:cs typeface="Aptos"/>
              </a:rPr>
              <a:t>Pipeline focus: data -&gt; corruption -&gt; CASA imaging -&gt; diagnostics -&gt; future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DFD9B7-E50B-468B-911B-453C1C52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1692C-74E8-474B-B8C4-FDCFF9C5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radioastro-ml | Phase I infrastructure deck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68426-F6CA-4327-B2EA-4CAE5737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91300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625843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2EF5B-584E-4679-B66C-8C74CF8A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2E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4218B-0C0D-43E4-87D4-2C803520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E215C-E054-4F47-9282-67237E80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Why this is hard: image artifacts do not come with clean labels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90144-BBAC-4CF1-ADEE-9AD898FD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Calibration issues, imaging choices, and bad visibilities can all create structure that looks deceptively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6D276-1904-41B3-B1FF-952C19FE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000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Expert inspection still matters, but it does not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Naturally bad images are not enough if the cause of the failure is ambiguous.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Any future ML effort needs examples where the underlying cause is actually known.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13F6E-B2E8-4505-A27D-D743A0A3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77BD6-F90B-491A-9C21-9A687DD5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WHY REAL DATA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68F0E-888F-4171-9E0B-62362A17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3695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The project is trying to keep the sky and uv-coverage realistic while controlling the fault itself.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92963-1A0D-4A6C-A079-92DA5FFF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383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2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83603-769E-4303-937A-33152543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calibration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1AFC4-5677-454D-B560-6A0BAEE6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BDD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D30AB-0B84-48EB-A9CE-27F28E53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792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C8792E"/>
                </a:solidFill>
                <a:latin typeface="Aptos Mono"/>
                <a:ea typeface="Aptos Mono"/>
                <a:cs typeface="Aptos Mono"/>
              </a:rPr>
              <a:t>imaging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0A8B1-F7CD-4B55-8515-61EE12C4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383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E0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A7413-FB98-4283-816F-3D978E0A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145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bad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61908-4C86-4899-A19C-31CEFDDB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38400"/>
            <a:ext cx="3048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f00f619c14c37"/>
          <a:stretch xmlns:a="http://schemas.openxmlformats.org/drawingml/2006/main"/>
        </p:blipFill>
        <p:spPr>
          <a:xfrm xmlns:a="http://schemas.openxmlformats.org/drawingml/2006/main">
            <a:off x="6230064" y="2533650"/>
            <a:ext cx="646271" cy="11239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7D561-D860-451D-956B-535F2B8A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862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Example: persistent spokes that line up with the PSF.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FFB64-2C7E-418E-88A8-6DA8672D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3048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1c2b33cd44eff"/>
          <a:stretch xmlns:a="http://schemas.openxmlformats.org/drawingml/2006/main"/>
        </p:blipFill>
        <p:spPr>
          <a:xfrm xmlns:a="http://schemas.openxmlformats.org/drawingml/2006/main">
            <a:off x="9544764" y="2533650"/>
            <a:ext cx="646271" cy="11239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25698-3C29-414F-8E11-4FC2D83E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Example: the dirty image already contains suspicious structure.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79F23-DE26-4C66-BA94-47E2628B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636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5f7ab56114ad1"/>
          <a:stretch xmlns:a="http://schemas.openxmlformats.org/drawingml/2006/main"/>
        </p:blipFill>
        <p:spPr>
          <a:xfrm xmlns:a="http://schemas.openxmlformats.org/drawingml/2006/main">
            <a:off x="7705725" y="4552950"/>
            <a:ext cx="1009650" cy="10096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5B73F-1DA9-4288-9818-884D059D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91200"/>
            <a:ext cx="613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Poor or unusual uv coverage can be part of the explanation, which is exactly why the labels are tricky.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E4390-5C13-442F-B54A-66010A83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50B03-0EAE-4699-844C-6922ABAE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radioastro-ml | Phase I infrastructure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CB6B95-DCFF-4DAB-93FE-005DF372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91300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57223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D3DCAA-8549-47AA-9B6B-563FACA4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2E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630F3-DBFD-4929-8977-F45D83C1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70998-EA71-4F84-A06F-27DE0AA9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Core workflow: turn uncertain bad images into examples with known causes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5D8A0-2FEA-4D47-A16B-6B2DE1A5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The project uses real calibrator observations, then adds controlled faults so the diagnostic outputs can be interpreted against a known intervention.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27C79-EDAA-48EA-ABF3-3B60EDB1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714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26418-1C25-4EC0-8553-69CFD19D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80"/>
          </a:solidFill>
          <a:ln xmlns:a="http://schemas.openxmlformats.org/drawingml/2006/main" w="0">
            <a:solidFill>
              <a:srgbClr val="0F7A8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8F87A-E661-4651-A4D6-8F61357F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51B11-9A8B-4A8F-9735-431C349B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Public calibrator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E5E49-EB46-40F6-91FC-0A95A2E2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Search public VLA calibrator observations and select usable projects.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B6733-2154-427F-9681-0E673E6B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381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1BC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A7945-8350-4BD9-A4CD-67E03432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47900"/>
            <a:ext cx="1714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E215B-B965-4652-8C1B-B1F3F780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80"/>
          </a:solidFill>
          <a:ln xmlns:a="http://schemas.openxmlformats.org/drawingml/2006/main" w="0">
            <a:solidFill>
              <a:srgbClr val="0F7A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D3071-09D2-4F13-9666-10F56692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955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5B32B-7349-4F98-8591-986CFAD9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337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Extraction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5A30E-5827-4E28-8D0C-E9B7CA70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718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Keep the calibrator data and build a consistent sample-processing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09F4C-3AE1-4FFE-861F-3F64C7E0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48000"/>
            <a:ext cx="381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1BC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F0FEA-FB15-4516-B03D-BF32088F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47900"/>
            <a:ext cx="1714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670B8-12CF-48ED-9309-D70FC18A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80"/>
          </a:solidFill>
          <a:ln xmlns:a="http://schemas.openxmlformats.org/drawingml/2006/main" w="0">
            <a:solidFill>
              <a:srgbClr val="0F7A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3A247-F1CD-4691-B30F-2C9DDC99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61447-B569-4F15-BB89-437DDE1E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337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Controlled corruption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737BB8-D3E1-44BE-8214-BA98FEFE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Inject gain-table based phase or amplitude faults with known settings.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139F2-01F5-44E3-8EBA-2805BDEF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381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1BC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56E9D-D43C-488D-AC92-6F2E0946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1714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602EA-ABD8-4A4A-BDD5-6E8C52D9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80"/>
          </a:solidFill>
          <a:ln xmlns:a="http://schemas.openxmlformats.org/drawingml/2006/main" w="0">
            <a:solidFill>
              <a:srgbClr val="0F7A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4F3F4-1D82-4B80-85F5-97FC93D8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955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658E0F-EA0C-4210-B33F-AD38117D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CASA imaging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E7D3A-B93A-4193-B945-B2E5AC4E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718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Re-image the data with a more standardized grid and recipe.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54B207-B049-4FF9-ACAA-415EBA24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48000"/>
            <a:ext cx="381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1BC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3FC614-E203-4E11-B5F1-6C56E7F0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47900"/>
            <a:ext cx="1714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403DCA-2DCC-4B58-92CD-E6757BDE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80"/>
          </a:solidFill>
          <a:ln xmlns:a="http://schemas.openxmlformats.org/drawingml/2006/main" w="0">
            <a:solidFill>
              <a:srgbClr val="0F7A8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2BF469-4DCE-4F27-8066-3466F6BF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955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50E5CC-D4E8-4BA7-83A2-F0263BB7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337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Diagnostics / labels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AE1853-6738-4AAB-8888-B85F22A9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718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Compare visibilities, gains, images, PSF, residuals, and uv coverage.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6EAE4B-531B-4594-AC81-032E902F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00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12204C-F7E2-4650-8BA1-603E887C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WHAT GETS COMPARED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886DD9-C9D0-478C-BA34-9275DB22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24450"/>
            <a:ext cx="3695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clean vs corrupted visibilities | gain tables | dirty image | clean image | residual image | PSF | uv coverage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33C9E4-FE92-4F5C-8BA2-1D2FD38B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0"/>
            <a:ext cx="487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D9CC6C-E91F-4AF9-B09F-7CDCB336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WHY THIS MATTERS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15FFCA-D02D-4E0C-A224-683C068A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2445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The labels come from the intervention itself, not from guessing after the fact which artifact 'looks like' a certain problem.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46B8BC-8EE5-468B-A30D-E67A241F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52D1F4-1654-48D5-8DD5-32B0AB5A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radioastro-ml | Phase I infrastructure deck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3AFDBA-AC55-43C6-BB5A-2E4EB082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91300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153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56855E-FEB5-4B93-805B-E38D1146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2E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33F78-E2B9-4995-AB84-DD12FD5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7D685-BD44-4A21-AB02-1B423491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Current scope: still Phase I, and that is the honest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7E18E-A80B-41B3-A16D-BBBA71FF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The most important progress has been making the pre-ML workflow reproducible enough to trust.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4BC57-9AA2-42E2-ACFB-CDBCDD5A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Three-phase 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D7542-0BF3-495B-A96D-91A183A2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038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80"/>
          </a:solidFill>
          <a:ln xmlns:a="http://schemas.openxmlformats.org/drawingml/2006/main" w="0">
            <a:solidFill>
              <a:srgbClr val="0F7A8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B5869-D505-463C-B9A5-F11C2534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Phase 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D4E01-8546-4583-940F-3940B9A1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+ corruption +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8421B-760C-41CF-8374-02665FA5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47950"/>
            <a:ext cx="2038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D4"/>
          </a:solidFill>
          <a:ln xmlns:a="http://schemas.openxmlformats.org/drawingml/2006/main" w="0">
            <a:solidFill>
              <a:srgbClr val="E9E2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06BC6-5F63-4C3E-95AA-45083636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765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Phase II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6CAE1-D51B-4CF3-A0F8-812AE1DA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29000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pilot labeled dataset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8706E-E3C7-42C3-9EC0-24633330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2038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D4"/>
          </a:solidFill>
          <a:ln xmlns:a="http://schemas.openxmlformats.org/drawingml/2006/main" w="0">
            <a:solidFill>
              <a:srgbClr val="E9E2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2FB12-271E-4956-A75F-A593794A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765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Phase III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44047-1C57-4881-ACCB-71116AB8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ML experiments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6C357-3D4D-4714-8BA3-3F04AC6C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03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26A41-8105-47CC-AE9E-C25B9C08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312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THIS DECK 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1E118-9F48-414C-B6E5-C472757C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62250"/>
            <a:ext cx="3124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data pipeline progress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corruption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diagnostic standardization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87546-BB75-41E3-B394-53A9C336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E6080-08E9-491A-92B9-8725EFB7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312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THIS DECK IS NOT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B8314-93CD-44DD-A693-4A2865EA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71950"/>
            <a:ext cx="3124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a large labeled dataset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a benchmarked classifier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a final ML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9F837-6E1E-4C7D-83CD-E401BE9B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896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A599E-231B-4121-903D-5B8D10EA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59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WHY THE PHASE I LABEL MATTERS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D0A94-D6B7-44C2-8365-C489BFA7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1059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It prevents overselling the work and keeps the next milestone concrete: produce a small, clean pilot dataset before claiming ML success.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C60883-0861-4FE7-AA33-B2D35268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01401A-3FFE-42A3-8902-3FA419A8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radioastro-ml | Phase I infrastructure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2B455D-EB50-4CCE-8008-FDC5EBAA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91300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7424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EE098C-F59D-4D85-8C75-3A675120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2E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5C688-8C00-481C-A9BE-9636F85B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DATA +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177F6-A886-43EB-97A8-172BED48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Data acquisition is now repeatable, even if the dataset is not fully curated yet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9F6DC-6622-437C-9F3A-7D07C854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The README shows steady progress from initial sample batches toward a working path for selecting, downloading, extracting, and imaging candidate calibrators.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A6B9F-7D12-4539-A947-51054428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5151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53ac82a264415"/>
          <a:stretch xmlns:a="http://schemas.openxmlformats.org/drawingml/2006/main"/>
        </p:blipFill>
        <p:spPr>
          <a:xfrm xmlns:a="http://schemas.openxmlformats.org/drawingml/2006/main">
            <a:off x="3822573" y="2305050"/>
            <a:ext cx="89154" cy="2743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230DF-04CF-431E-B59F-267570DA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Larger sample batch after the data-requesting and download pipeline was automated further.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DCFB3-751B-4240-9A26-C65875D3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47900"/>
            <a:ext cx="4000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Search public VLA calibrator observations and prioritize useful projects.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Download only the calibrator-relevant data products.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Extract and image candidate samples with a consistent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Keep vetting because some projects are too flagged or otherwise unsuitable.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6A278-7BF7-4B89-A23D-D914809B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400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D3371-46E3-4824-A7D9-28E2CCC0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00550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BY-PRODUCT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535B6-9F29-4354-8CC6-19EDA593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29150"/>
            <a:ext cx="3695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A structured VLA calibrator catalog makes selection more programmable and tracks metadata such as band, flux, and uv-limit information.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3DE96-3B05-4A43-B76F-F8B2559E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76850"/>
            <a:ext cx="400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4A7D-07C0-443B-B400-C118081F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10200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BY-PRODUCT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33661-9F9C-48D3-9761-B9BBD2C6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38800"/>
            <a:ext cx="3695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The NRAO archive querying / downloading utilities were split into their own fetcher workflow to make requests and manifests more reproducible.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485A3-EE7C-4BFE-93D1-7CC50463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BF8FE-722F-4CC3-9315-D1891C67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radioastro-ml | Phase I infrastructure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A9392-BB73-49C3-9EF3-FFF90400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91300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5652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8C73CA-D942-404E-939E-ED0495B1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2E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E7F35-9D10-46B7-8CD4-0D943A83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CORRUPTION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727D6-2E6A-4EE2-94F9-8702D5D0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Controlled fault injection is shifting from simulator exploration to gain-table based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AA84F-85CB-4708-B3CF-116FF18F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The target is not just to make corrupted images. The target is to make corrupted images whose cause is controlled and interpretable.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FD82F-2997-43EE-B0B5-EF3DA196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4290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Initial focus is on antenna-based phase and amplitude gain 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Time-varying patterns such as sine-like drift and fBM-style drift have been explored.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README notes that some simulator modes were useful for understanding the problem, but not ideal for reliable dataset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2B498-16DD-40C0-BC77-0023EAA3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42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5FA07-06D2-4ED1-9745-FF24191A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312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TAKEAWAY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AFDD7-64C6-46D2-84CF-3B0E7157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3124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Move toward corruption settings that can be reasoned about physically and reproduced cleanly from run to run.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DC21A-14E4-4BE0-A932-57A4E7CE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21717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e006736be4cb3"/>
          <a:stretch xmlns:a="http://schemas.openxmlformats.org/drawingml/2006/main"/>
        </p:blipFill>
        <p:spPr>
          <a:xfrm xmlns:a="http://schemas.openxmlformats.org/drawingml/2006/main">
            <a:off x="4572000" y="2928754"/>
            <a:ext cx="1981200" cy="149579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5B33E-5D0D-45CF-95AB-52E927F9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43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Sinusoidal corruption stored in the gain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24B7E-75E9-4024-BBE0-4CA0CCA0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43150"/>
            <a:ext cx="21717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f14dcc5854e81"/>
          <a:stretch xmlns:a="http://schemas.openxmlformats.org/drawingml/2006/main"/>
        </p:blipFill>
        <p:spPr>
          <a:xfrm xmlns:a="http://schemas.openxmlformats.org/drawingml/2006/main">
            <a:off x="6972300" y="2983230"/>
            <a:ext cx="1981200" cy="138684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B6805-4049-46B2-BA33-D9E64494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43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fBM-style drift as a more stochastic time-varying pattern.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8B6DC-4EB3-4563-9C65-5ACD9D0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43150"/>
            <a:ext cx="22288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0e5ccd28248e1"/>
          <a:stretch xmlns:a="http://schemas.openxmlformats.org/drawingml/2006/main"/>
        </p:blipFill>
        <p:spPr>
          <a:xfrm xmlns:a="http://schemas.openxmlformats.org/drawingml/2006/main">
            <a:off x="9372600" y="2907180"/>
            <a:ext cx="2038350" cy="1538941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FDF5D-B6BB-40E6-91B6-7591BFB6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143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Image-domain effect after a controlled corruption is applied.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DF002-69EA-4E33-B84D-29F8FF10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C11FA-56E0-4217-9A6D-F1CDAC7B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radioastro-ml | Phase I infrastructure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08C86-31D2-4B43-A820-0E00A395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91300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8143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E44010-D2F1-4CBB-96F3-E24C9FE1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2E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51F4C-8EBF-497E-B35A-4BA3B76A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C95F5-E009-4606-B8D0-2DAFDC91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The labels only matter if the injected faults behave the way the calibration model predicts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0DFC2-BAE3-437D-B6A4-3B920332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Closure tests are a sanity check on what kind of error is actually being injected, and what gain calibration should or should not be able to remove.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37B30-9F4D-47CD-9F35-90CADB4C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048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Antenna-based phase corruption preserves closure phase.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Baseline-only corruption violates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Baseline-only corruption is not removed by antenna-based gaincal, which separates it from per-antenna faults.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F6475-A711-4976-A427-AE4FC72B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0ED44-8218-4D4F-AEF2-F29C0CC5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WHY THIS IS IMPORTANT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47966-E0E7-451C-AF1E-0BEDF6B9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274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This is the difference between a meaningful label and a visually interesting artifact with unclear physical interpretation.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1BA48-395C-4436-8B13-42A1F9C8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43150"/>
            <a:ext cx="23812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c95df64364382"/>
          <a:stretch xmlns:a="http://schemas.openxmlformats.org/drawingml/2006/main"/>
        </p:blipFill>
        <p:spPr>
          <a:xfrm xmlns:a="http://schemas.openxmlformats.org/drawingml/2006/main">
            <a:off x="4171950" y="3202781"/>
            <a:ext cx="2190750" cy="98583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2870C-4E10-45DF-8AA0-5A9AB62C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8160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Per-antenna corruption: closure stays consistent.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741A6-D54C-4076-850F-2B7C9EF3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23812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25f12edd34364"/>
          <a:stretch xmlns:a="http://schemas.openxmlformats.org/drawingml/2006/main"/>
        </p:blipFill>
        <p:spPr>
          <a:xfrm xmlns:a="http://schemas.openxmlformats.org/drawingml/2006/main">
            <a:off x="6800850" y="3202781"/>
            <a:ext cx="2190750" cy="98583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A500F-5493-4197-8948-DE9712D3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8160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One-baseline corruption: closure breaks.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B0051-BB0E-4018-B907-48FC4629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21717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5ca6409fa4f62"/>
          <a:stretch xmlns:a="http://schemas.openxmlformats.org/drawingml/2006/main"/>
        </p:blipFill>
        <p:spPr>
          <a:xfrm xmlns:a="http://schemas.openxmlformats.org/drawingml/2006/main">
            <a:off x="9429750" y="2947804"/>
            <a:ext cx="1981200" cy="1495793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5A34C-8FCA-442E-8C86-981E2DB3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816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Recovery behavior after gaincal is another check on error class.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D2123-6949-489C-A5DC-71465AD3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8179E-4FCC-4B5B-A6D1-C5B2F347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radioastro-ml | Phase I infrastructure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600D2E-117E-4437-B5DD-05B14197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91300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542445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0328BB-E0F0-4AAF-9245-302BC18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2E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C255B-20A4-423D-A1A0-2E56EBE6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IMAGING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4EBC9-FAA5-42CE-AAF4-7DD04DDE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The imaging and diagnostics pipeline is more standardized, but the results are still mixed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8EC12-28FD-4EDD-93BB-AA90A649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README progress here is about consistency and interpretation, not a magic correction recipe.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1DB7D-CCF7-478D-BF45-450DD8F8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5433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Outputs now include dirty image, clean image, residual image, PSF, uv coverage, and summary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Beam-based cell size and field-of-view choices reduce arbitrary imaging settings.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Several fixes were tested: uv-lim recalibration, more MT-MFS terms / iterations, box masks, and the VLA selfcal pipeline.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E8BB6-DF44-4D1E-AC2E-CEA67D7C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543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9F810-FD41-41F4-9D92-88342764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CAUTION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F507D-3D2A-46D5-A9AE-6D0A01FA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Lower residual sigma or nicer scalar metrics do not automatically mean the image is scientifically better. README explicitly warns that CLEAN can improve metrics while still fitting artifacts.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4ECBE-F93F-41E2-81FA-09CBA75F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9800"/>
            <a:ext cx="3257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9288d0aac4a87"/>
          <a:stretch xmlns:a="http://schemas.openxmlformats.org/drawingml/2006/main"/>
        </p:blipFill>
        <p:spPr>
          <a:xfrm xmlns:a="http://schemas.openxmlformats.org/drawingml/2006/main">
            <a:off x="5023423" y="2305050"/>
            <a:ext cx="2354705" cy="11049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0870D-2AF3-4E4F-94B4-EF72379E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Old beam-size estimate.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1734B-AB58-4F84-9FC9-B9A7C30F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257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abd96c42b476e"/>
          <a:stretch xmlns:a="http://schemas.openxmlformats.org/drawingml/2006/main"/>
        </p:blipFill>
        <p:spPr>
          <a:xfrm xmlns:a="http://schemas.openxmlformats.org/drawingml/2006/main">
            <a:off x="8635970" y="2305050"/>
            <a:ext cx="2178111" cy="11049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F46D4-E760-4BEE-835F-EA08F53C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Beam-based first-pass estimate.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5F483-C76B-4D65-9121-7CC043F0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3257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0c88141f14048"/>
          <a:stretch xmlns:a="http://schemas.openxmlformats.org/drawingml/2006/main"/>
        </p:blipFill>
        <p:spPr>
          <a:xfrm xmlns:a="http://schemas.openxmlformats.org/drawingml/2006/main">
            <a:off x="5107433" y="4210050"/>
            <a:ext cx="2186685" cy="11049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1C7C6-686F-426E-9B4F-6FC554DB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435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Before: problematic field-of-view / grid choice.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98F33-9246-46ED-A457-DE8ED618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3257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211e665484870"/>
          <a:stretch xmlns:a="http://schemas.openxmlformats.org/drawingml/2006/main"/>
        </p:blipFill>
        <p:spPr>
          <a:xfrm xmlns:a="http://schemas.openxmlformats.org/drawingml/2006/main">
            <a:off x="8665169" y="4210050"/>
            <a:ext cx="2119712" cy="11049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0814D-B181-4B4D-B759-8FB04BA9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435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After: more reasonable imaging setup.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1CD02-E8EC-40AD-A91C-CF0E6A0B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63C153-FA27-45B0-9447-24A93C02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radioastro-ml | Phase I infrastructure deck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CF7D4-96FC-47F3-AB22-5A22AF74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91300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9503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4A2353-4C66-49A3-9018-50BC5183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2E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C2D0A-AC59-4B2F-8F1D-456F7761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VISIBILITY 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039D6-3F51-4803-9297-F3C95425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New work in progress: robust anomaly scoring directly in the visibility domain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64007-7936-4405-A67F-298FEA31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This adds a bad-data QA pass that can point to suspicious antennas, baselines, time bins, or channel ranges before relying only on image artifacts.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60E29-9771-41E0-BD0E-7D1DD387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9342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69b683edf477f"/>
          <a:stretch xmlns:a="http://schemas.openxmlformats.org/drawingml/2006/main"/>
        </p:blipFill>
        <p:spPr>
          <a:xfrm xmlns:a="http://schemas.openxmlformats.org/drawingml/2006/main">
            <a:off x="2261020" y="2343150"/>
            <a:ext cx="3631360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C16B0-3097-4955-8CD1-5CF1447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670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Visibility-QA contact sheet for the BAD_UV_DIST_VS_AMP batch.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1047C-71A2-4467-B180-7077ADA8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3543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5A360-617B-4EE3-8723-43A4ACEB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0E8F2-47D2-4D68-A3F5-8A14769B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1. take log-amplitude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2. bin by uv-distance / channel / SPW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3. compute robust local z-scores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4. aggregate strong outliers by antenna, baseline, time, and channel groups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83DF4-48C4-470E-B53A-0CE87B06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672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5C03F-CEC0-48F1-B6E7-77794311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THRESHOLDS IN README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84B72-4BDE-4C70-B2E6-D43AB88C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29150"/>
            <a:ext cx="3238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strong outlier: |z| &gt;= 8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moderate outlier: |z| &gt;= 5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candidate groups are scored by coverage, enrichment, bad fraction, and data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89C81-87D4-4597-9AF1-BC48EE55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4835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3"/>
          </a:solidFill>
          <a:ln xmlns:a="http://schemas.openxmlformats.org/drawingml/2006/main" w="9525">
            <a:solidFill>
              <a:srgbClr val="B5D0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E94AB-DDF0-45B4-9967-B5864FDC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924550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diagnostic tool, not automatic flagging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8D02F-B5A0-4C08-891B-7D98F27E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4AD1E-D966-4BB3-A99B-FD3DACA7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radioastro-ml | Phase I infrastructure deck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CDD8F-0F06-4F8C-A45C-80AC1B64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91300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30422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D8FAC2-1058-4D1F-AD55-95EC650A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2E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A9AD8-2C53-4A6D-8484-58D1C615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E9874-ED16-4881-9208-BF7973C9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What exists now, and what still blocks a serious ML 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1AFFD-4B5D-491A-A13B-6667FF8A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The right summary is not 'ML works.' The right summary is 'the pilot-data-generation workflow is finally taking shape.'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B4BC9-AB81-4602-A1A7-8F614344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1816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5"/>
          </a:solidFill>
          <a:ln xmlns:a="http://schemas.openxmlformats.org/drawingml/2006/main" w="9525">
            <a:solidFill>
              <a:srgbClr val="C7DB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6AFA8-5086-4638-9980-4773E055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51816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1ED"/>
          </a:solidFill>
          <a:ln xmlns:a="http://schemas.openxmlformats.org/drawingml/2006/main" w="9525">
            <a:solidFill>
              <a:srgbClr val="E2C9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033A2-3987-4C20-B560-C3127AD7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6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E7D60"/>
                </a:solidFill>
                <a:latin typeface="Aptos Display"/>
                <a:ea typeface="Aptos Display"/>
                <a:cs typeface="Aptos Display"/>
              </a:rPr>
              <a:t>What exists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38AC2-67A2-4281-9D8B-8680F1F7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45720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candidate-data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structured calibrator catalog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archive querying / download tooling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gain-table corruption experiments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closure / recovery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automated imaging diagnostics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visibility anomaly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782F1-59A2-4AF2-A0CC-B09CABD1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A3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45A3C"/>
                </a:solidFill>
                <a:latin typeface="Aptos Display"/>
                <a:ea typeface="Aptos Display"/>
                <a:cs typeface="Aptos Display"/>
              </a:rPr>
              <a:t>What still blocks 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12C64-9DEB-4F21-A0AA-A1729CF0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3700"/>
            <a:ext cx="4572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final fault-class 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final severity ranges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sample vetting / rejection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pilot labeled dataset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first ML benchmark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- generalization checks across calibrators / setups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42719-B687-4538-B308-C130EFB3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18E4D-405C-41BA-94A2-ABA71BB8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NEXT MILESTONE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B586F-4E5E-48A1-AD23-51E21B3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Build a small, clean pilot dataset first. Only then is a baseline classifier worth treating as evidence rather than as a curiosity.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1A6F8-C8FC-404B-ABD7-6B6CE334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9F4BA-9766-4A97-9FCE-BFC69665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radioastro-ml | Phase I infrastructure deck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9FEED-3054-4655-A550-5804E155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91300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307205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761524-09F5-4BFD-B848-23C8FDBA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92E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27AD6-5FFD-40EB-B6FC-76A45BC0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853E6-22C2-4E20-B070-A52A423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Near-term plan: produce a small pilot dataset and ask the right questions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B1C0B-3D0E-4D8A-84F2-1C0E6FDC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A"/>
                </a:solidFill>
                <a:latin typeface="Aptos"/>
                <a:ea typeface="Aptos"/>
                <a:cs typeface="Aptos"/>
              </a:rPr>
              <a:t>The README's own framing is useful here: the next milestone is a clean pilot, not a full-scale ML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783A8-1B1B-48BF-BB1E-3D7AFB5A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3"/>
          </a:solidFill>
          <a:ln xmlns:a="http://schemas.openxmlformats.org/drawingml/2006/main" w="9525">
            <a:solidFill>
              <a:srgbClr val="B6D0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E28AC-D8AA-4EF5-9F3A-F9B1DFB8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DD7E1-29DA-433C-979D-73493422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Choose the first fault classes.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70A62-2925-44D7-B9EA-46EFA36C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1BC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C9A2C-B0E1-4D79-B835-26365CA6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01AA7-B71C-488F-B991-D651E547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2889B-2484-4678-94B0-72005B08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Freeze one imaging / diagnostics recipe.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AF308-174C-490A-9A38-C30BC15D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1BC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BD0D7-3E66-4FC8-8B14-4F8C9C5C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317AB-644A-4200-9BA2-32954848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6A9F0-C321-4EA5-951C-E79E308E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Define sample rejection rules.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F6D98-0738-4C9E-9460-8C201B66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1BC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8064A-9974-4D7B-8F9F-F27F76E0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B0934-EEB7-4935-8B4F-99062669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D94A9-A744-477E-B35D-81EF381D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Generate a pilot labeled dataset.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FF11A-90ED-4D93-B8E0-73C6E8F3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1BC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B6685-D720-4CB7-9B47-8E5C437D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D9BBF-DB03-4968-9B37-6C00E670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0421F4-4D0B-43B7-89D8-9E20BD1C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495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Run a small sanity-check baseline classifier.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6373E7-75B9-491A-B008-0E6EAEB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47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32434"/>
                </a:solidFill>
                <a:latin typeface="Aptos Display"/>
                <a:ea typeface="Aptos Display"/>
                <a:cs typeface="Aptos Display"/>
              </a:rPr>
              <a:t>Feedback needed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EDCDCB-15EB-4720-8388-0961C674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86050"/>
            <a:ext cx="2743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812B31-161F-48C2-A1C6-BA97A7BC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1940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QUESTION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7029CD-9330-4EC4-92C4-6237B25B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48000"/>
            <a:ext cx="2438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Which fault classes should come first?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8DDBBC-CEA6-43CA-880C-9A490AA1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95750"/>
            <a:ext cx="2743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924641-0CE5-4A98-A0B9-03C79760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2910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QUESTION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E0E330-3387-4643-A4F6-9341314C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2438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What should count as a usable calibrator sample?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184094-8AE1-4E7F-B8A7-52A5E2D6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2743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22C202-810C-4E37-9E1A-79056D3A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1940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QUESTION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E0A176-11F4-453D-8524-DA30990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48000"/>
            <a:ext cx="2438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Which products should be ML inputs and what is the first success criterion?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3B20AC-19A3-4EAE-86B9-CF78B951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95750"/>
            <a:ext cx="2743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D2611C-C9B0-4957-A327-1E859286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2910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7A80"/>
                </a:solidFill>
                <a:latin typeface="Aptos Mono"/>
                <a:ea typeface="Aptos Mono"/>
                <a:cs typeface="Aptos Mono"/>
              </a:rPr>
              <a:t>QUESTION 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F58008-C26F-4BA3-AEE0-C6A7A75B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57700"/>
            <a:ext cx="2438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324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434"/>
                </a:solidFill>
                <a:latin typeface="Aptos"/>
                <a:ea typeface="Aptos"/>
                <a:cs typeface="Aptos"/>
              </a:rPr>
              <a:t>What output is most useful in the near term: pilot dataset, diagnostic pipeline, software tools, or first ML baseline?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F75563-4C48-478B-881B-902A477C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8779C1-B991-4C3C-A176-A25091DA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radioastro-ml | Phase I infrastructure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411790-3B8F-453A-9286-54FA31CA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91300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2707A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70390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2026-05-05T04:56:01.4280000Z</dcterms:created>
  <dcterms:modified xsi:type="dcterms:W3CDTF">2026-05-05T04:56:01.4290000Z</dcterms:modified>
</coreProperties>
</file>